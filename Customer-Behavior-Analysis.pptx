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Bold"/>
      <p:regular r:id="rId201316"/>
    </p:embeddedFont>
    <p:embeddedFont>
      <p:font typeface="Inter Medium"/>
      <p:regular r:id="rId201317"/>
    </p:embeddedFont>
    <p:embeddedFont>
      <p:font typeface="Inter Bold"/>
      <p:regular r:id="rId201318"/>
    </p:embeddedFont>
    <p:embeddedFont>
      <p:font typeface="Inter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429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1.png"/><Relationship Id="rId4" Type="http://schemas.openxmlformats.org/officeDocument/2006/relationships/image" Target="../media/image-6-2.svg"/><Relationship Id="rId5" Type="http://schemas.openxmlformats.org/officeDocument/2006/relationships/image" Target="../media/image-6-1.png"/><Relationship Id="rId6" Type="http://schemas.openxmlformats.org/officeDocument/2006/relationships/image" Target="../media/image-6-2.svg"/><Relationship Id="rId7" Type="http://schemas.openxmlformats.org/officeDocument/2006/relationships/image" Target="../media/image-6-1.png"/><Relationship Id="rId8" Type="http://schemas.openxmlformats.org/officeDocument/2006/relationships/image" Target="../media/image-6-2.svg"/><Relationship Id="rId9" Type="http://schemas.openxmlformats.org/officeDocument/2006/relationships/image" Target="../media/image-6-1.png"/><Relationship Id="rId10" Type="http://schemas.openxmlformats.org/officeDocument/2006/relationships/image" Target="../media/image-6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1.png"/><Relationship Id="rId4" Type="http://schemas.openxmlformats.org/officeDocument/2006/relationships/image" Target="../media/image-8-2.svg"/><Relationship Id="rId5" Type="http://schemas.openxmlformats.org/officeDocument/2006/relationships/image" Target="../media/image-8-1.png"/><Relationship Id="rId6" Type="http://schemas.openxmlformats.org/officeDocument/2006/relationships/image" Target="../media/image-8-2.svg"/><Relationship Id="rId7" Type="http://schemas.openxmlformats.org/officeDocument/2006/relationships/image" Target="../media/image-8-1.png"/><Relationship Id="rId8" Type="http://schemas.openxmlformats.org/officeDocument/2006/relationships/image" Target="../media/image-8-2.svg"/><Relationship Id="rId9" Type="http://schemas.openxmlformats.org/officeDocument/2006/relationships/image" Target="../media/image-8-1.png"/><Relationship Id="rId10" Type="http://schemas.openxmlformats.org/officeDocument/2006/relationships/image" Target="../media/image-8-2.svg"/><Relationship Id="rId11" Type="http://schemas.openxmlformats.org/officeDocument/2006/relationships/image" Target="../media/image-8-1.png"/><Relationship Id="rId12" Type="http://schemas.openxmlformats.org/officeDocument/2006/relationships/image" Target="../media/image-8-2.svg"/><Relationship Id="rId13" Type="http://schemas.openxmlformats.org/officeDocument/2006/relationships/image" Target="../media/image-8-1.png"/><Relationship Id="rId14" Type="http://schemas.openxmlformats.org/officeDocument/2006/relationships/image" Target="../media/image-8-2.svg"/><Relationship Id="rId15" Type="http://schemas.openxmlformats.org/officeDocument/2006/relationships/image" Target="../media/image-8-1.png"/><Relationship Id="rId16" Type="http://schemas.openxmlformats.org/officeDocument/2006/relationships/image" Target="../media/image-8-2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88381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162498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end-to-end data analytics project exploring purchasing patterns, demographics, and spending behavior using Python, Pandas, and SQL.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5233360" y="4282380"/>
            <a:ext cx="1507294" cy="287139"/>
          </a:xfrm>
          <a:prstGeom prst="roundRect">
            <a:avLst>
              <a:gd name="adj" fmla="val 7899"/>
            </a:avLst>
          </a:prstGeom>
          <a:solidFill>
            <a:srgbClr val="4A0303"/>
          </a:solidFill>
          <a:ln/>
        </p:spPr>
      </p:sp>
      <p:sp>
        <p:nvSpPr>
          <p:cNvPr id="6" name="Text 3"/>
          <p:cNvSpPr/>
          <p:nvPr/>
        </p:nvSpPr>
        <p:spPr>
          <a:xfrm>
            <a:off x="5346765" y="4339034"/>
            <a:ext cx="189007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ANALYTICS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835108" y="4282380"/>
            <a:ext cx="2031652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FDC4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8512" y="4339034"/>
            <a:ext cx="241442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FDC4C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· PANDAS · SQL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5377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Objectives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822450"/>
            <a:ext cx="3496877" cy="2147590"/>
          </a:xfrm>
          <a:prstGeom prst="roundRect">
            <a:avLst>
              <a:gd name="adj" fmla="val 1320"/>
            </a:avLst>
          </a:prstGeom>
          <a:solidFill>
            <a:srgbClr val="434348"/>
          </a:solidFill>
          <a:ln/>
        </p:spPr>
      </p:sp>
      <p:sp>
        <p:nvSpPr>
          <p:cNvPr id="4" name="Shape 2"/>
          <p:cNvSpPr/>
          <p:nvPr/>
        </p:nvSpPr>
        <p:spPr>
          <a:xfrm>
            <a:off x="850482" y="2011462"/>
            <a:ext cx="567021" cy="567035"/>
          </a:xfrm>
          <a:prstGeom prst="ellipse">
            <a:avLst/>
          </a:prstGeom>
          <a:solidFill>
            <a:srgbClr val="FDC4C4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6450" y="2167334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276750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Purchasing Behavior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176191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how customers shop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822450"/>
            <a:ext cx="3496877" cy="2147590"/>
          </a:xfrm>
          <a:prstGeom prst="roundRect">
            <a:avLst>
              <a:gd name="adj" fmla="val 1320"/>
            </a:avLst>
          </a:prstGeom>
          <a:solidFill>
            <a:srgbClr val="434348"/>
          </a:solidFill>
          <a:ln/>
        </p:spPr>
      </p:sp>
      <p:sp>
        <p:nvSpPr>
          <p:cNvPr id="9" name="Shape 6"/>
          <p:cNvSpPr/>
          <p:nvPr/>
        </p:nvSpPr>
        <p:spPr>
          <a:xfrm>
            <a:off x="4536366" y="2011462"/>
            <a:ext cx="567021" cy="567035"/>
          </a:xfrm>
          <a:prstGeom prst="ellipse">
            <a:avLst/>
          </a:prstGeom>
          <a:solidFill>
            <a:srgbClr val="FDC4C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334" y="2167334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6366" y="276750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Demographics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36366" y="3176191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key customer segments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822450"/>
            <a:ext cx="3496877" cy="2147590"/>
          </a:xfrm>
          <a:prstGeom prst="roundRect">
            <a:avLst>
              <a:gd name="adj" fmla="val 1320"/>
            </a:avLst>
          </a:prstGeom>
          <a:solidFill>
            <a:srgbClr val="434348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2251" y="2011462"/>
            <a:ext cx="567021" cy="567035"/>
          </a:xfrm>
          <a:prstGeom prst="ellipse">
            <a:avLst/>
          </a:prstGeom>
          <a:solidFill>
            <a:srgbClr val="FDC4C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78219" y="2167334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2251" y="276750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 Preferences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2251" y="3176191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category and item choices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159052"/>
            <a:ext cx="5339820" cy="1845171"/>
          </a:xfrm>
          <a:prstGeom prst="roundRect">
            <a:avLst>
              <a:gd name="adj" fmla="val 1537"/>
            </a:avLst>
          </a:prstGeom>
          <a:solidFill>
            <a:srgbClr val="434348"/>
          </a:solidFill>
          <a:ln/>
        </p:spPr>
      </p:sp>
      <p:sp>
        <p:nvSpPr>
          <p:cNvPr id="19" name="Shape 14"/>
          <p:cNvSpPr/>
          <p:nvPr/>
        </p:nvSpPr>
        <p:spPr>
          <a:xfrm>
            <a:off x="850482" y="4348063"/>
            <a:ext cx="567021" cy="567035"/>
          </a:xfrm>
          <a:prstGeom prst="ellipse">
            <a:avLst/>
          </a:prstGeom>
          <a:solidFill>
            <a:srgbClr val="FDC4C4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6450" y="4503936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0482" y="510411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Spending Patterns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0482" y="5512792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Study amounts, discounts, frequency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4159052"/>
            <a:ext cx="5339820" cy="1845171"/>
          </a:xfrm>
          <a:prstGeom prst="roundRect">
            <a:avLst>
              <a:gd name="adj" fmla="val 1537"/>
            </a:avLst>
          </a:prstGeom>
          <a:solidFill>
            <a:srgbClr val="434348"/>
          </a:solidFill>
          <a:ln/>
        </p:spPr>
      </p:sp>
      <p:sp>
        <p:nvSpPr>
          <p:cNvPr id="24" name="Shape 18"/>
          <p:cNvSpPr/>
          <p:nvPr/>
        </p:nvSpPr>
        <p:spPr>
          <a:xfrm>
            <a:off x="6379308" y="4348063"/>
            <a:ext cx="567021" cy="567035"/>
          </a:xfrm>
          <a:prstGeom prst="ellipse">
            <a:avLst/>
          </a:prstGeom>
          <a:solidFill>
            <a:srgbClr val="FDC4C4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35276" y="4503936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79308" y="510411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Business Insights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79308" y="5512792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actionable findings via EDA &amp; SQL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1990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 Overview</a:t>
            </a:r>
            <a:endParaRPr lang="en-US" sz="2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82489"/>
            <a:ext cx="5048322" cy="5048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40386" y="2954139"/>
            <a:ext cx="5496085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15 Variables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40386" y="3255070"/>
            <a:ext cx="6105670" cy="1448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Spanning demographics, transactions, and behavioral metrics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040386" y="3483967"/>
            <a:ext cx="5496085" cy="1035943"/>
          </a:xfrm>
          <a:prstGeom prst="rect">
            <a:avLst/>
          </a:prstGeom>
          <a:noFill/>
          <a:ln/>
        </p:spPr>
        <p:txBody>
          <a:bodyPr wrap="square" lIns="0" tIns="53161" rIns="0" bIns="0" rtlCol="0" anchor="t">
            <a:normAutofit/>
          </a:bodyPr>
          <a:lstStyle/>
          <a:p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ID, Age, Gender, Location</a:t>
            </a:r>
            <a:endParaRPr lang="en-US" sz="1000" dirty="0"/>
          </a:p>
          <a:p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Item Purchased, Category, Purchase Amount</a:t>
            </a:r>
            <a:endParaRPr lang="en-US" sz="1000" dirty="0"/>
          </a:p>
          <a:p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Subscription Status, Payment Method</a:t>
            </a:r>
            <a:endParaRPr lang="en-US" sz="1000" dirty="0"/>
          </a:p>
          <a:p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 Applied, Previous Purchases</a:t>
            </a:r>
            <a:endParaRPr lang="en-US" sz="1000" dirty="0"/>
          </a:p>
          <a:p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Purchase Frequency, Review Rating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302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Tools &amp; Technologies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98911"/>
            <a:ext cx="378014" cy="3780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013174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Python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3421856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language for data analysis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398911"/>
            <a:ext cx="378014" cy="37802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3915" y="3013174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Pandas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13915" y="3421856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cleaning and manipulation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102298"/>
            <a:ext cx="378014" cy="37802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475" y="471656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Jupyter Notebook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661475" y="5125244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and documentation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102298"/>
            <a:ext cx="378014" cy="37802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13915" y="471656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MySQL / SQL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13915" y="5125244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Querying and extracting insights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5297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Cleaning &amp; Preparation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69830" y="1721644"/>
            <a:ext cx="8452035" cy="38683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41606" y="451853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Prepare for SQL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341783" y="451853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Handle Missing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352827" y="4671375"/>
            <a:ext cx="1586817" cy="305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Check Types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2320397" y="4518531"/>
            <a:ext cx="1586817" cy="61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Load &amp; Inspect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802610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structured cleaning pipeline ensures data quality before exploratory and SQL-based analysis.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078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Exploratory Data Analysis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76488"/>
            <a:ext cx="3496877" cy="144234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7479" y="259089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Demographics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77479" y="299958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and location patterns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376488"/>
            <a:ext cx="3496877" cy="14423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363" y="259089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Categories &amp; Products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663363" y="299958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purchased items and categories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376488"/>
            <a:ext cx="3496877" cy="14423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49247" y="2590899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Purchase Amounts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349247" y="2999581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Spending by segment and subscription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07842"/>
            <a:ext cx="3496877" cy="144234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7479" y="422225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Discounts &amp; Payments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977479" y="463093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Usage rates and method distribution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47359" y="4007842"/>
            <a:ext cx="3496877" cy="144234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663363" y="422225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Frequency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4663363" y="4630936"/>
            <a:ext cx="296646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Previous purchases and repeat behavior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SQL Analysis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3708995"/>
            <a:ext cx="443109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Query Techniques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3903861"/>
            <a:ext cx="4431098" cy="503039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Filter, group, and summarize data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Compare behavior across segments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Analyze categories and spending patterns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aggregate functions for insights</a:t>
            </a:r>
            <a:endParaRPr lang="en-US" sz="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9501" y="939006"/>
            <a:ext cx="6206970" cy="6207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1019"/>
            <a:ext cx="10868745" cy="313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Suggested Visualizations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61475" y="951409"/>
            <a:ext cx="11478330" cy="122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charts to communicate findings</a:t>
            </a:r>
            <a:endParaRPr lang="en-US" sz="7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134269"/>
            <a:ext cx="10868745" cy="602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9683" y="1341338"/>
            <a:ext cx="150610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29081" y="1247378"/>
            <a:ext cx="10288032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Gender Distribution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790005"/>
            <a:ext cx="10868745" cy="602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99683" y="1997075"/>
            <a:ext cx="150610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29081" y="1903115"/>
            <a:ext cx="10288032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Age Group Breakdown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445742"/>
            <a:ext cx="10868745" cy="602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9683" y="2652812"/>
            <a:ext cx="150610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1129081" y="2558852"/>
            <a:ext cx="10288032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Purchase Amount by Category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101479"/>
            <a:ext cx="10868745" cy="602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99683" y="3308548"/>
            <a:ext cx="150610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29081" y="3214588"/>
            <a:ext cx="10288032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Top Categories &amp; Items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757216"/>
            <a:ext cx="10868745" cy="602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99683" y="3964285"/>
            <a:ext cx="150610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1129081" y="3870325"/>
            <a:ext cx="10288032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Subscription vs. Spend</a:t>
            </a:r>
            <a:endParaRPr lang="en-US" sz="9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4412952"/>
            <a:ext cx="10868745" cy="602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799683" y="4620022"/>
            <a:ext cx="150610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1150" dirty="0"/>
          </a:p>
        </p:txBody>
      </p:sp>
      <p:sp>
        <p:nvSpPr>
          <p:cNvPr id="21" name="Text 13"/>
          <p:cNvSpPr/>
          <p:nvPr/>
        </p:nvSpPr>
        <p:spPr>
          <a:xfrm>
            <a:off x="1129081" y="4526062"/>
            <a:ext cx="10288032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Discount Usage</a:t>
            </a:r>
            <a:endParaRPr lang="en-US" sz="95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5068689"/>
            <a:ext cx="10868745" cy="602456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9683" y="5275759"/>
            <a:ext cx="150610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</a:t>
            </a:r>
            <a:endParaRPr lang="en-US" sz="1150" dirty="0"/>
          </a:p>
        </p:txBody>
      </p:sp>
      <p:sp>
        <p:nvSpPr>
          <p:cNvPr id="24" name="Text 15"/>
          <p:cNvSpPr/>
          <p:nvPr/>
        </p:nvSpPr>
        <p:spPr>
          <a:xfrm>
            <a:off x="1129081" y="5181798"/>
            <a:ext cx="10288032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Payment Methods</a:t>
            </a:r>
            <a:endParaRPr lang="en-US" sz="9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61475" y="5724426"/>
            <a:ext cx="10868745" cy="602456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799683" y="5931495"/>
            <a:ext cx="150610" cy="18821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</a:t>
            </a:r>
            <a:endParaRPr lang="en-US" sz="1150" dirty="0"/>
          </a:p>
        </p:txBody>
      </p:sp>
      <p:sp>
        <p:nvSpPr>
          <p:cNvPr id="27" name="Text 17"/>
          <p:cNvSpPr/>
          <p:nvPr/>
        </p:nvSpPr>
        <p:spPr>
          <a:xfrm>
            <a:off x="1129081" y="5837535"/>
            <a:ext cx="10288032" cy="156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Purchase Frequency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082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Business Value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682379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4" name="Text 2"/>
          <p:cNvSpPr/>
          <p:nvPr/>
        </p:nvSpPr>
        <p:spPr>
          <a:xfrm>
            <a:off x="850482" y="287139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Customer Segments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280073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understanding of who buys what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90301" y="2682379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7" name="Text 5"/>
          <p:cNvSpPr/>
          <p:nvPr/>
        </p:nvSpPr>
        <p:spPr>
          <a:xfrm>
            <a:off x="6379308" y="2871391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Product Preferences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79308" y="3280073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Insights into category and item demand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3960515"/>
            <a:ext cx="5339820" cy="1089124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10" name="Text 8"/>
          <p:cNvSpPr/>
          <p:nvPr/>
        </p:nvSpPr>
        <p:spPr>
          <a:xfrm>
            <a:off x="850482" y="4149527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Spending Behavior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50482" y="4558209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 in amounts, discounts, frequency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90301" y="3960515"/>
            <a:ext cx="5339919" cy="1089124"/>
          </a:xfrm>
          <a:prstGeom prst="roundRect">
            <a:avLst>
              <a:gd name="adj" fmla="val 2603"/>
            </a:avLst>
          </a:prstGeom>
          <a:solidFill>
            <a:srgbClr val="434348"/>
          </a:solidFill>
          <a:ln/>
        </p:spPr>
      </p:sp>
      <p:sp>
        <p:nvSpPr>
          <p:cNvPr id="13" name="Text 11"/>
          <p:cNvSpPr/>
          <p:nvPr/>
        </p:nvSpPr>
        <p:spPr>
          <a:xfrm>
            <a:off x="6379308" y="4149527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Data-Driven Decisions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379308" y="4558209"/>
            <a:ext cx="49619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data transformed into actionable info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2209"/>
            <a:ext cx="10868745" cy="35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Conclusion</a:t>
            </a:r>
            <a:endParaRPr lang="en-US" sz="22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032371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799179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Query with SQL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723173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Explore Patterns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658035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Clean &amp; Prepare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58202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Understand Data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759549"/>
            <a:ext cx="11478330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Behavior Analysis demonstrates a complete data analytics pipeline — from raw data to actionable business insights.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61475" y="5986661"/>
            <a:ext cx="10868745" cy="339030"/>
          </a:xfrm>
          <a:prstGeom prst="roundRect">
            <a:avLst>
              <a:gd name="adj" fmla="val 5096"/>
            </a:avLst>
          </a:prstGeom>
          <a:solidFill>
            <a:srgbClr val="7B040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566" y="6086475"/>
            <a:ext cx="143963" cy="11509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35619" y="6085582"/>
            <a:ext cx="10989095" cy="1482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7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combines data cleaning, EDA, and SQL to study customer shopping patterns and support data-driven decisions.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2026-08-20T14:28:28Z</dcterms:created>
  <dcterms:modified xsi:type="dcterms:W3CDTF">2026-08-20T14:28:28Z</dcterms:modified>
</cp:coreProperties>
</file>